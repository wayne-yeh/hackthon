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300700" cy="10299700"/>
  <p:notesSz cx="18300700" cy="10299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203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XGihPAHSnr9WuywD4AmCrRFa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DE3140-42EF-42B3-A34D-9F7914FBC796}">
  <a:tblStyle styleId="{E6DE3140-42EF-42B3-A34D-9F7914FBC79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77" d="100"/>
          <a:sy n="77" d="100"/>
        </p:scale>
        <p:origin x="632" y="176"/>
      </p:cViewPr>
      <p:guideLst>
        <p:guide orient="horz" pos="2880"/>
        <p:guide pos="2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86069c579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00" cy="3862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986069c579_3_78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eed39309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00" cy="3862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9eed39309a_0_45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ef67c0898_0_0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9ef67c0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800" cy="3862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8288000" cy="1028776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1"/>
          <p:cNvSpPr/>
          <p:nvPr/>
        </p:nvSpPr>
        <p:spPr>
          <a:xfrm>
            <a:off x="466559" y="506152"/>
            <a:ext cx="17355185" cy="9275445"/>
          </a:xfrm>
          <a:custGeom>
            <a:avLst/>
            <a:gdLst/>
            <a:ahLst/>
            <a:cxnLst/>
            <a:rect l="l" t="t" r="r" b="b"/>
            <a:pathLst>
              <a:path w="17355185" h="9275445" extrusionOk="0">
                <a:moveTo>
                  <a:pt x="8677427" y="9275008"/>
                </a:moveTo>
                <a:lnTo>
                  <a:pt x="0" y="9275008"/>
                </a:lnTo>
                <a:lnTo>
                  <a:pt x="0" y="0"/>
                </a:lnTo>
                <a:lnTo>
                  <a:pt x="17354842" y="0"/>
                </a:lnTo>
                <a:lnTo>
                  <a:pt x="17354842" y="9275008"/>
                </a:lnTo>
                <a:lnTo>
                  <a:pt x="8677427" y="9275008"/>
                </a:lnTo>
                <a:close/>
              </a:path>
            </a:pathLst>
          </a:custGeom>
          <a:noFill/>
          <a:ln w="187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9131439" y="2363566"/>
            <a:ext cx="6119494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8288000" cy="1028776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/>
          <p:nvPr/>
        </p:nvSpPr>
        <p:spPr>
          <a:xfrm>
            <a:off x="466559" y="506152"/>
            <a:ext cx="17355185" cy="9275445"/>
          </a:xfrm>
          <a:custGeom>
            <a:avLst/>
            <a:gdLst/>
            <a:ahLst/>
            <a:cxnLst/>
            <a:rect l="l" t="t" r="r" b="b"/>
            <a:pathLst>
              <a:path w="17355185" h="9275445" extrusionOk="0">
                <a:moveTo>
                  <a:pt x="8677427" y="9275008"/>
                </a:moveTo>
                <a:lnTo>
                  <a:pt x="0" y="9275008"/>
                </a:lnTo>
                <a:lnTo>
                  <a:pt x="0" y="0"/>
                </a:lnTo>
                <a:lnTo>
                  <a:pt x="17354842" y="0"/>
                </a:lnTo>
                <a:lnTo>
                  <a:pt x="17354842" y="9275008"/>
                </a:lnTo>
                <a:lnTo>
                  <a:pt x="8677427" y="9275008"/>
                </a:lnTo>
                <a:close/>
              </a:path>
            </a:pathLst>
          </a:custGeom>
          <a:noFill/>
          <a:ln w="187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3"/>
          <p:cNvSpPr/>
          <p:nvPr/>
        </p:nvSpPr>
        <p:spPr>
          <a:xfrm>
            <a:off x="15376257" y="8753758"/>
            <a:ext cx="1948180" cy="454025"/>
          </a:xfrm>
          <a:custGeom>
            <a:avLst/>
            <a:gdLst/>
            <a:ahLst/>
            <a:cxnLst/>
            <a:rect l="l" t="t" r="r" b="b"/>
            <a:pathLst>
              <a:path w="1948180" h="454025" extrusionOk="0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842" y="453516"/>
                </a:lnTo>
                <a:close/>
              </a:path>
              <a:path w="1948180" h="454025" extrusionOk="0">
                <a:moveTo>
                  <a:pt x="973415" y="453516"/>
                </a:moveTo>
                <a:lnTo>
                  <a:pt x="746700" y="453516"/>
                </a:lnTo>
                <a:lnTo>
                  <a:pt x="746700" y="0"/>
                </a:lnTo>
                <a:lnTo>
                  <a:pt x="1200258" y="0"/>
                </a:lnTo>
                <a:lnTo>
                  <a:pt x="1200258" y="453516"/>
                </a:lnTo>
                <a:lnTo>
                  <a:pt x="973415" y="453516"/>
                </a:lnTo>
                <a:close/>
              </a:path>
              <a:path w="1948180" h="454025" extrusionOk="0">
                <a:moveTo>
                  <a:pt x="1720877" y="453516"/>
                </a:moveTo>
                <a:lnTo>
                  <a:pt x="1494035" y="453516"/>
                </a:lnTo>
                <a:lnTo>
                  <a:pt x="1494035" y="0"/>
                </a:lnTo>
                <a:lnTo>
                  <a:pt x="1947593" y="0"/>
                </a:lnTo>
                <a:lnTo>
                  <a:pt x="1947593" y="453516"/>
                </a:lnTo>
                <a:lnTo>
                  <a:pt x="1720877" y="453516"/>
                </a:lnTo>
                <a:close/>
              </a:path>
            </a:pathLst>
          </a:custGeom>
          <a:noFill/>
          <a:ln w="187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9131439" y="2363566"/>
            <a:ext cx="6119494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9131516" y="3903163"/>
            <a:ext cx="7976869" cy="416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50" b="0" i="0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8288000" cy="1028776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4"/>
          <p:cNvSpPr/>
          <p:nvPr/>
        </p:nvSpPr>
        <p:spPr>
          <a:xfrm>
            <a:off x="17329658" y="624954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22" y="453517"/>
                </a:moveTo>
                <a:lnTo>
                  <a:pt x="0" y="453517"/>
                </a:lnTo>
                <a:lnTo>
                  <a:pt x="0" y="0"/>
                </a:lnTo>
                <a:lnTo>
                  <a:pt x="453517" y="0"/>
                </a:lnTo>
                <a:lnTo>
                  <a:pt x="453517" y="453517"/>
                </a:lnTo>
                <a:lnTo>
                  <a:pt x="226822" y="453517"/>
                </a:lnTo>
                <a:close/>
              </a:path>
            </a:pathLst>
          </a:custGeom>
          <a:noFill/>
          <a:ln w="187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4"/>
          <p:cNvSpPr/>
          <p:nvPr/>
        </p:nvSpPr>
        <p:spPr>
          <a:xfrm>
            <a:off x="452159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4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8" y="0"/>
                </a:lnTo>
                <a:lnTo>
                  <a:pt x="453588" y="453513"/>
                </a:lnTo>
                <a:lnTo>
                  <a:pt x="226794" y="453513"/>
                </a:lnTo>
                <a:close/>
              </a:path>
            </a:pathLst>
          </a:custGeom>
          <a:noFill/>
          <a:ln w="187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4"/>
          <p:cNvSpPr/>
          <p:nvPr/>
        </p:nvSpPr>
        <p:spPr>
          <a:xfrm>
            <a:off x="1199500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8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7" y="0"/>
                </a:lnTo>
                <a:lnTo>
                  <a:pt x="453587" y="453513"/>
                </a:lnTo>
                <a:lnTo>
                  <a:pt x="226798" y="453513"/>
                </a:lnTo>
                <a:close/>
              </a:path>
            </a:pathLst>
          </a:custGeom>
          <a:noFill/>
          <a:ln w="187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4"/>
          <p:cNvSpPr txBox="1">
            <a:spLocks noGrp="1"/>
          </p:cNvSpPr>
          <p:nvPr>
            <p:ph type="ctrTitle"/>
          </p:nvPr>
        </p:nvSpPr>
        <p:spPr>
          <a:xfrm>
            <a:off x="9131439" y="2359758"/>
            <a:ext cx="4596130" cy="102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ubTitle" idx="1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50" b="0" i="0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>
            <a:spLocks noGrp="1"/>
          </p:cNvSpPr>
          <p:nvPr>
            <p:ph type="title"/>
          </p:nvPr>
        </p:nvSpPr>
        <p:spPr>
          <a:xfrm>
            <a:off x="9131439" y="2363566"/>
            <a:ext cx="6119494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1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2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9131439" y="2363566"/>
            <a:ext cx="6119494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500" b="0" i="0" u="none" strike="noStrike" cap="none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9131516" y="3903163"/>
            <a:ext cx="7976869" cy="416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50" b="0" i="0" u="none" strike="noStrike" cap="none">
                <a:solidFill>
                  <a:srgbClr val="FFCA00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0" y="2787650"/>
            <a:ext cx="182055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100" rIns="0" bIns="0" anchor="t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sz="9600" b="1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RWA黑客松</a:t>
            </a:r>
            <a:br>
              <a:rPr lang="zh-TW" sz="96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9600" b="1">
                <a:latin typeface="Microsoft JhengHei"/>
                <a:ea typeface="Microsoft JhengHei"/>
                <a:cs typeface="Microsoft JhengHei"/>
                <a:sym typeface="Microsoft JhengHei"/>
              </a:rPr>
              <a:t>發票× 區塊鏈 × 透明信任</a:t>
            </a:r>
            <a:endParaRPr sz="107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755064" y="6902450"/>
            <a:ext cx="15392400" cy="19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100" rIns="0" bIns="0" anchor="t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0" i="0" u="none" strike="noStrike" cap="none" dirty="0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團隊名稱：上鏈夢想家</a:t>
            </a:r>
            <a:endParaRPr sz="4400" b="0" i="0" u="none" strike="noStrike" cap="none" dirty="0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0" i="0" u="none" strike="noStrike" cap="none" dirty="0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團隊成員：</a:t>
            </a:r>
            <a:r>
              <a:rPr lang="zh-TW" altLang="en-US" sz="4400" b="0" i="0" u="none" strike="noStrike" cap="none" dirty="0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小葉</a:t>
            </a:r>
            <a:r>
              <a:rPr lang="zh-TW" sz="4400" b="0" i="0" u="none" strike="noStrike" cap="none" dirty="0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、阿拜、Vick</a:t>
            </a:r>
            <a:endParaRPr sz="4400" b="0" i="0" u="none" strike="noStrike" cap="none" dirty="0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/>
        </p:nvSpPr>
        <p:spPr>
          <a:xfrm>
            <a:off x="1606550" y="958850"/>
            <a:ext cx="90870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zh-TW" sz="65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傳統捐款的信任困境</a:t>
            </a:r>
            <a:endParaRPr sz="65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606550" y="2711450"/>
            <a:ext cx="91509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lang="zh-TW" sz="2950" b="0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傳統捐款箱《捐字號》過期，導致捐款箱中的前不知去向。</a:t>
            </a:r>
            <a:endParaRPr sz="295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0" lvl="0" indent="0" algn="l" rtl="0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endParaRPr sz="295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0" lvl="0" indent="0" algn="l" rtl="0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lang="zh-TW" sz="295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公益勸募條例  第24條 摘要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lang="zh-TW" sz="295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募捐活動未經許可及逾許可勸募活動期間，仍為勸募活動，</a:t>
            </a:r>
            <a:r>
              <a:rPr lang="zh-TW" sz="295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可處新臺幣四萬元以上二十萬元以下罰鍰。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40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5750" y="3625850"/>
            <a:ext cx="7487695" cy="6030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1606550" y="958850"/>
            <a:ext cx="111027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b="1">
                <a:latin typeface="Microsoft JhengHei"/>
                <a:ea typeface="Microsoft JhengHei"/>
                <a:cs typeface="Microsoft JhengHei"/>
                <a:sym typeface="Microsoft JhengHei"/>
              </a:rPr>
              <a:t>傳統捐款的信任困境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144140" y="9201594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 extrusionOk="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FCA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606550" y="2406650"/>
            <a:ext cx="107721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lang="zh-TW" sz="2950" b="0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資⾦流向不透明</a:t>
            </a:r>
            <a:endParaRPr sz="295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lang="zh-TW" sz="2950" b="0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捐款進⼊機構後，從總額到具體⽀出的追蹤鏈條斷裂。公開的財報往往是年度或季度彙總，難以實時查驗單筆資⾦⽤途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6494" y="4387850"/>
            <a:ext cx="8153400" cy="5278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6550" y="4387850"/>
            <a:ext cx="6617815" cy="538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3587750" y="501650"/>
            <a:ext cx="10896600" cy="42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100" rIns="0" bIns="0" anchor="t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</a:pPr>
            <a:r>
              <a:rPr lang="zh-TW" sz="103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為了讓每一分</a:t>
            </a:r>
            <a:r>
              <a:rPr lang="zh-TW" sz="103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愛心</a:t>
            </a:r>
            <a:endParaRPr sz="10300" b="1" i="0" u="none" strike="noStrike" cap="non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5080" lvl="0" indent="0" algn="ctr" rtl="0">
              <a:lnSpc>
                <a:spcPct val="100000"/>
              </a:lnSpc>
              <a:spcBef>
                <a:spcPts val="430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</a:pPr>
            <a:r>
              <a:rPr lang="zh-TW" sz="103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清楚看得見</a:t>
            </a:r>
            <a:endParaRPr sz="1070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2673350" y="5378450"/>
            <a:ext cx="129540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</a:pPr>
            <a:r>
              <a:rPr lang="zh-TW" sz="103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打造出</a:t>
            </a:r>
            <a:r>
              <a:rPr lang="zh-TW" sz="103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區塊鏈發票</a:t>
            </a:r>
            <a:endParaRPr sz="10300" b="1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</a:pPr>
            <a:r>
              <a:rPr lang="zh-TW" sz="103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讓</a:t>
            </a:r>
            <a:r>
              <a:rPr lang="zh-TW" sz="103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捐款上鏈不掉鏈</a:t>
            </a:r>
            <a:endParaRPr sz="1400" b="0" i="0" u="none" strike="noStrike" cap="none">
              <a:solidFill>
                <a:srgbClr val="FFCA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86069c579_3_78"/>
          <p:cNvSpPr txBox="1">
            <a:spLocks noGrp="1"/>
          </p:cNvSpPr>
          <p:nvPr>
            <p:ph type="title" idx="4294967295"/>
          </p:nvPr>
        </p:nvSpPr>
        <p:spPr>
          <a:xfrm>
            <a:off x="1606550" y="958850"/>
            <a:ext cx="111027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b="1">
                <a:latin typeface="Microsoft JhengHei"/>
                <a:ea typeface="Microsoft JhengHei"/>
                <a:cs typeface="Microsoft JhengHei"/>
                <a:sym typeface="Microsoft JhengHei"/>
              </a:rPr>
              <a:t>區塊鏈發票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1" name="Google Shape;81;g3986069c579_3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400" y="2537353"/>
            <a:ext cx="4430999" cy="31738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986069c579_3_78"/>
          <p:cNvSpPr txBox="1"/>
          <p:nvPr/>
        </p:nvSpPr>
        <p:spPr>
          <a:xfrm>
            <a:off x="1970875" y="5711175"/>
            <a:ext cx="2607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zh-TW" sz="45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公開透明</a:t>
            </a:r>
            <a:endParaRPr sz="450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3" name="Google Shape;83;g3986069c579_3_78"/>
          <p:cNvPicPr preferRelativeResize="0"/>
          <p:nvPr/>
        </p:nvPicPr>
        <p:blipFill rotWithShape="1">
          <a:blip r:embed="rId4">
            <a:alphaModFix/>
          </a:blip>
          <a:srcRect l="12441"/>
          <a:stretch/>
        </p:blipFill>
        <p:spPr>
          <a:xfrm>
            <a:off x="7336275" y="1564725"/>
            <a:ext cx="3788413" cy="43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986069c579_3_78" title="—Pngtree—blue blockchain technology element_403626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112350" y="2236175"/>
            <a:ext cx="3173825" cy="317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986069c579_3_78"/>
          <p:cNvSpPr txBox="1"/>
          <p:nvPr/>
        </p:nvSpPr>
        <p:spPr>
          <a:xfrm>
            <a:off x="6693089" y="5711175"/>
            <a:ext cx="5074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4500" b="1" i="0" u="none" strike="noStrike" cap="none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程式設定申請期限</a:t>
            </a:r>
            <a:endParaRPr sz="4500" b="1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6" name="Google Shape;86;g3986069c579_3_78"/>
          <p:cNvSpPr txBox="1"/>
          <p:nvPr/>
        </p:nvSpPr>
        <p:spPr>
          <a:xfrm>
            <a:off x="12620202" y="5711175"/>
            <a:ext cx="4186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zh-TW" sz="4500" b="1" i="0" u="none" strike="noStrike" cap="none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資料分散儲存</a:t>
            </a:r>
            <a:endParaRPr sz="4500" b="1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7" name="Google Shape;87;g3986069c579_3_78"/>
          <p:cNvSpPr txBox="1"/>
          <p:nvPr/>
        </p:nvSpPr>
        <p:spPr>
          <a:xfrm>
            <a:off x="1774825" y="70399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icrosoft JhengHei"/>
              <a:buChar char="●"/>
            </a:pPr>
            <a:r>
              <a:rPr lang="zh-TW" sz="3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數據不可竄改</a:t>
            </a:r>
            <a:endParaRPr sz="3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19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icrosoft JhengHei"/>
              <a:buChar char="●"/>
            </a:pPr>
            <a:r>
              <a:rPr lang="zh-TW" sz="3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公開查核追朔</a:t>
            </a:r>
            <a:endParaRPr sz="3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" name="Google Shape;88;g3986069c579_3_78"/>
          <p:cNvSpPr txBox="1"/>
          <p:nvPr/>
        </p:nvSpPr>
        <p:spPr>
          <a:xfrm>
            <a:off x="7376452" y="7039975"/>
            <a:ext cx="3547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icrosoft JhengHei"/>
              <a:buChar char="●"/>
            </a:pPr>
            <a:r>
              <a:rPr lang="zh-TW" sz="3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避免捐字號過期</a:t>
            </a:r>
            <a:endParaRPr sz="3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19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icrosoft JhengHei"/>
              <a:buChar char="●"/>
            </a:pPr>
            <a:r>
              <a:rPr lang="zh-TW" sz="3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降低被罰款風險</a:t>
            </a:r>
            <a:endParaRPr sz="3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9" name="Google Shape;89;g3986069c579_3_78"/>
          <p:cNvSpPr txBox="1"/>
          <p:nvPr/>
        </p:nvSpPr>
        <p:spPr>
          <a:xfrm>
            <a:off x="12620212" y="7039975"/>
            <a:ext cx="4527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icrosoft JhengHei"/>
              <a:buChar char="●"/>
            </a:pPr>
            <a:r>
              <a:rPr lang="zh-TW" sz="3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避免單一資料存放遺失</a:t>
            </a:r>
            <a:endParaRPr sz="3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icrosoft JhengHei"/>
              <a:buChar char="●"/>
            </a:pPr>
            <a:r>
              <a:rPr lang="zh-TW" sz="3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降低被駭風險</a:t>
            </a:r>
            <a:endParaRPr sz="3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5" title="—Pngtree—regulatory office currency bank financial_385498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46700" y="1266926"/>
            <a:ext cx="1752600" cy="175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2486931" y="5165466"/>
            <a:ext cx="1752600" cy="76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A00"/>
          </a:solidFill>
          <a:ln w="254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zh-TW" sz="2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捐款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2099752" y="5865209"/>
            <a:ext cx="22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rgbClr val="FFCA00"/>
                </a:solidFill>
                <a:latin typeface="Arial"/>
                <a:ea typeface="Arial"/>
                <a:cs typeface="Arial"/>
                <a:sym typeface="Arial"/>
              </a:rPr>
              <a:t>透過法幣或虛擬貨幣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5"/>
          <p:cNvGrpSpPr/>
          <p:nvPr/>
        </p:nvGrpSpPr>
        <p:grpSpPr>
          <a:xfrm>
            <a:off x="-1" y="4487414"/>
            <a:ext cx="2354590" cy="1841926"/>
            <a:chOff x="2230600" y="6393225"/>
            <a:chExt cx="3744576" cy="2929272"/>
          </a:xfrm>
        </p:grpSpPr>
        <p:pic>
          <p:nvPicPr>
            <p:cNvPr id="98" name="Google Shape;98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30600" y="6393225"/>
              <a:ext cx="3744576" cy="2929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5"/>
            <p:cNvSpPr txBox="1"/>
            <p:nvPr/>
          </p:nvSpPr>
          <p:spPr>
            <a:xfrm>
              <a:off x="3346875" y="8233700"/>
              <a:ext cx="1512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475" tIns="57475" rIns="57475" bIns="574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54"/>
                <a:buFont typeface="Arial"/>
                <a:buNone/>
              </a:pPr>
              <a:r>
                <a:rPr lang="zh-TW" sz="1854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捐款人</a:t>
              </a:r>
              <a:endParaRPr sz="1854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id="100" name="Google Shape;10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50806" y="4171611"/>
            <a:ext cx="1160187" cy="1010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 title="—Pngtree—regulatory office currency bank financial_385498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043" y="4187994"/>
            <a:ext cx="2440774" cy="244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4678768" y="6234509"/>
            <a:ext cx="1959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受款機構</a:t>
            </a:r>
            <a:endParaRPr sz="2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077318" y="5041257"/>
            <a:ext cx="1856400" cy="101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A00"/>
          </a:solidFill>
          <a:ln w="254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確認款項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9039943" y="6234509"/>
            <a:ext cx="32757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lang="zh-TW" sz="235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上鏈夢想家</a:t>
            </a:r>
            <a:endParaRPr sz="235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2509318" y="5041257"/>
            <a:ext cx="1856400" cy="101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A00"/>
          </a:solidFill>
          <a:ln w="25400" cap="flat" cmpd="sng">
            <a:solidFill>
              <a:srgbClr val="FFC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發票上鏈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652225" y="4739365"/>
            <a:ext cx="1959301" cy="1614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15391600" y="3019500"/>
            <a:ext cx="862800" cy="1168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查核</a:t>
            </a:r>
            <a:endParaRPr sz="20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5310150" y="6628750"/>
            <a:ext cx="1025700" cy="150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發票錯誤</a:t>
            </a:r>
            <a:endParaRPr sz="20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109" name="Google Shape;109;p5"/>
          <p:cNvGrpSpPr/>
          <p:nvPr/>
        </p:nvGrpSpPr>
        <p:grpSpPr>
          <a:xfrm>
            <a:off x="14607637" y="4707065"/>
            <a:ext cx="2146017" cy="1678766"/>
            <a:chOff x="2230600" y="6393225"/>
            <a:chExt cx="3744576" cy="2929272"/>
          </a:xfrm>
        </p:grpSpPr>
        <p:pic>
          <p:nvPicPr>
            <p:cNvPr id="110" name="Google Shape;110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30600" y="6393225"/>
              <a:ext cx="3744576" cy="2929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5"/>
            <p:cNvSpPr txBox="1"/>
            <p:nvPr/>
          </p:nvSpPr>
          <p:spPr>
            <a:xfrm>
              <a:off x="3346875" y="8233700"/>
              <a:ext cx="1512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400" tIns="52400" rIns="52400" bIns="524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0"/>
                <a:buFont typeface="Arial"/>
                <a:buNone/>
              </a:pPr>
              <a:r>
                <a:rPr lang="zh-TW" sz="1690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捐款人</a:t>
              </a:r>
              <a:endParaRPr sz="169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pic>
        <p:nvPicPr>
          <p:cNvPr id="112" name="Google Shape;112;p5" title="—Pngtree—regulatory office currency bank financial_385498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22989" y="7996298"/>
            <a:ext cx="1614165" cy="161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15122913" y="9448681"/>
            <a:ext cx="161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受款機構</a:t>
            </a:r>
            <a:endParaRPr sz="2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1607625" y="8292850"/>
            <a:ext cx="30000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lang="zh-TW" sz="235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註銷重開</a:t>
            </a:r>
            <a:endParaRPr sz="235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5" name="Google Shape;115;p5"/>
          <p:cNvSpPr/>
          <p:nvPr/>
        </p:nvSpPr>
        <p:spPr>
          <a:xfrm rot="-5400000">
            <a:off x="11760550" y="6459475"/>
            <a:ext cx="1610700" cy="3889800"/>
          </a:xfrm>
          <a:prstGeom prst="bentArrow">
            <a:avLst>
              <a:gd name="adj1" fmla="val 22999"/>
              <a:gd name="adj2" fmla="val 25000"/>
              <a:gd name="adj3" fmla="val 25000"/>
              <a:gd name="adj4" fmla="val 43750"/>
            </a:avLst>
          </a:prstGeom>
          <a:solidFill>
            <a:srgbClr val="FFCA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07775" y="7901098"/>
            <a:ext cx="1614150" cy="132980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7914850" y="9230900"/>
            <a:ext cx="30000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lang="zh-TW" sz="235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發票仍存在鏈上</a:t>
            </a:r>
            <a:endParaRPr sz="235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18" name="Google Shape;118;p5" title="pngtree-heart-checkmark-love-confirmation-icon-png-image_16415672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00474" y="3019500"/>
            <a:ext cx="862800" cy="8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15015838" y="958843"/>
            <a:ext cx="161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受款機構</a:t>
            </a:r>
            <a:endParaRPr sz="20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title" idx="4294967295"/>
          </p:nvPr>
        </p:nvSpPr>
        <p:spPr>
          <a:xfrm>
            <a:off x="1606550" y="958850"/>
            <a:ext cx="111027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b="1">
                <a:latin typeface="Microsoft JhengHei"/>
                <a:ea typeface="Microsoft JhengHei"/>
                <a:cs typeface="Microsoft JhengHei"/>
                <a:sym typeface="Microsoft JhengHei"/>
              </a:rPr>
              <a:t>區塊鏈發票流程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4374" y="4420280"/>
            <a:ext cx="1614300" cy="181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1606550" y="958850"/>
            <a:ext cx="77292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b="1">
                <a:latin typeface="Microsoft JhengHei"/>
                <a:ea typeface="Microsoft JhengHei"/>
                <a:cs typeface="Microsoft JhengHei"/>
                <a:sym typeface="Microsoft JhengHei"/>
              </a:rPr>
              <a:t>優劣勢分析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27" name="Google Shape;127;p6"/>
          <p:cNvGraphicFramePr/>
          <p:nvPr/>
        </p:nvGraphicFramePr>
        <p:xfrm>
          <a:off x="2950450" y="2938700"/>
          <a:ext cx="12938950" cy="7107450"/>
        </p:xfrm>
        <a:graphic>
          <a:graphicData uri="http://schemas.openxmlformats.org/drawingml/2006/table">
            <a:tbl>
              <a:tblPr firstRow="1" firstCol="1" bandRow="1">
                <a:noFill/>
                <a:tableStyleId>{E6DE3140-42EF-42B3-A34D-9F7914FBC796}</a:tableStyleId>
              </a:tblPr>
              <a:tblGrid>
                <a:gridCol w="646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2000"/>
                        <a:buFont typeface="Microsoft JhengHei"/>
                        <a:buNone/>
                      </a:pPr>
                      <a:r>
                        <a:rPr lang="zh-TW" sz="3000" u="none" strike="noStrike" cap="none">
                          <a:solidFill>
                            <a:srgbClr val="FFCA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優勢</a:t>
                      </a:r>
                      <a:endParaRPr sz="300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2000"/>
                        <a:buFont typeface="Microsoft JhengHei"/>
                        <a:buNone/>
                      </a:pPr>
                      <a:r>
                        <a:rPr lang="zh-TW" sz="3000" u="none" strike="noStrike" cap="none">
                          <a:solidFill>
                            <a:srgbClr val="FFCA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劣勢</a:t>
                      </a:r>
                      <a:endParaRPr sz="300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5150">
                <a:tc>
                  <a:txBody>
                    <a:bodyPr/>
                    <a:lstStyle/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數據不可篡改，提升公信力。</a:t>
                      </a:r>
                      <a:endParaRPr sz="2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實時追蹤，滿足公眾知情權。</a:t>
                      </a:r>
                      <a:endParaRPr sz="2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運作成本降低，對帳更簡單。</a:t>
                      </a:r>
                      <a:endParaRPr sz="2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技術門檻：公益團體需學習新系統。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隱私問題：明細公開程度與受助者隱私的平衡。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. 系統整合：需與現有會計系統對接。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2000"/>
                        <a:buFont typeface="Microsoft JhengHei"/>
                        <a:buNone/>
                      </a:pPr>
                      <a:r>
                        <a:rPr lang="zh-TW" sz="3000" u="none" strike="noStrike" cap="none">
                          <a:solidFill>
                            <a:srgbClr val="FFCA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機會</a:t>
                      </a:r>
                      <a:endParaRPr sz="300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2000"/>
                        <a:buFont typeface="Microsoft JhengHei"/>
                        <a:buNone/>
                      </a:pPr>
                      <a:r>
                        <a:rPr lang="zh-TW" sz="3000" b="1" u="none" strike="noStrike" cap="none">
                          <a:solidFill>
                            <a:srgbClr val="FFCA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威脅 </a:t>
                      </a:r>
                      <a:endParaRPr sz="3000" b="1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5150">
                <a:tc>
                  <a:txBody>
                    <a:bodyPr/>
                    <a:lstStyle/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迎合年輕世代對數位透明化的需求</a:t>
                      </a:r>
                      <a:endParaRPr sz="2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提升捐款機構形象</a:t>
                      </a:r>
                      <a:endParaRPr sz="2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政府推廣智慧化系統</a:t>
                      </a:r>
                      <a:endParaRPr sz="2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457200" marR="0" lvl="0" indent="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監管不確定性：政府對</a:t>
                      </a:r>
                      <a:r>
                        <a:rPr lang="zh-TW" sz="200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區塊鏈的態度</a:t>
                      </a:r>
                      <a:r>
                        <a:rPr lang="zh-TW" sz="2000" b="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。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ctr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Microsoft JhengHei"/>
                        <a:buAutoNum type="arabicPeriod"/>
                      </a:pPr>
                      <a:r>
                        <a:rPr lang="zh-TW" sz="2000" b="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區塊鏈網路本身的安全性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8" name="Google Shape;128;p6"/>
          <p:cNvSpPr/>
          <p:nvPr/>
        </p:nvSpPr>
        <p:spPr>
          <a:xfrm>
            <a:off x="6035975" y="2618900"/>
            <a:ext cx="323400" cy="3198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2488988" y="2646509"/>
            <a:ext cx="323400" cy="319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035975" y="6331650"/>
            <a:ext cx="323400" cy="319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2489000" y="6331650"/>
            <a:ext cx="323400" cy="319800"/>
          </a:xfrm>
          <a:prstGeom prst="ellipse">
            <a:avLst/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/>
        </p:nvSpPr>
        <p:spPr>
          <a:xfrm>
            <a:off x="1606550" y="958850"/>
            <a:ext cx="122682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zh-TW" sz="65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市場競爭性與差異化定位</a:t>
            </a:r>
            <a:endParaRPr sz="650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1149350" y="2666841"/>
            <a:ext cx="16002000" cy="7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Char char="•"/>
            </a:pPr>
            <a:r>
              <a:rPr lang="zh-TW" sz="32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信任度提升：</a:t>
            </a:r>
            <a:endParaRPr sz="32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對傳統慈善機構透明度存疑時，區塊鏈提供</a:t>
            </a:r>
            <a:r>
              <a:rPr lang="zh-TW" sz="32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絕對透明度</a:t>
            </a:r>
            <a:r>
              <a:rPr lang="zh-TW" sz="32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，使機構能夠獲得更高的信任，吸引對透明度要求嚴苛的捐款人。</a:t>
            </a:r>
            <a:endParaRPr sz="3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zh-TW" sz="32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獲取新客群：</a:t>
            </a:r>
            <a:r>
              <a:rPr lang="zh-TW" sz="32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32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 sz="32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吸引年輕</a:t>
            </a:r>
            <a:r>
              <a:rPr lang="zh-TW" sz="32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、科技敏感度高的捐款人，他們偏好數位化、可驗證的捐贈體驗，拓展新的資金來源。</a:t>
            </a:r>
            <a:endParaRPr sz="3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zh-TW" sz="32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降低會計成本：</a:t>
            </a:r>
            <a:r>
              <a:rPr lang="zh-TW" sz="32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32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由於資金流向自動記錄且不可篡改，長遠來看可以</a:t>
            </a:r>
            <a:r>
              <a:rPr lang="zh-TW" sz="32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大幅簡化內部和外部的會計流程，降低行政和人力成本</a:t>
            </a:r>
            <a:r>
              <a:rPr lang="zh-TW" sz="32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3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1606550" y="958850"/>
            <a:ext cx="122682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zh-TW" sz="65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短中長期發展</a:t>
            </a:r>
            <a:endParaRPr sz="650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43" name="Google Shape;143;p8"/>
          <p:cNvGraphicFramePr/>
          <p:nvPr/>
        </p:nvGraphicFramePr>
        <p:xfrm>
          <a:off x="3606003" y="2915675"/>
          <a:ext cx="11088700" cy="5867375"/>
        </p:xfrm>
        <a:graphic>
          <a:graphicData uri="http://schemas.openxmlformats.org/drawingml/2006/table">
            <a:tbl>
              <a:tblPr firstRow="1" firstCol="1" bandRow="1">
                <a:noFill/>
                <a:tableStyleId>{E6DE3140-42EF-42B3-A34D-9F7914FBC796}</a:tableStyleId>
              </a:tblPr>
              <a:tblGrid>
                <a:gridCol w="11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3600"/>
                        <a:buFont typeface="Microsoft JhengHei"/>
                        <a:buNone/>
                      </a:pPr>
                      <a:r>
                        <a:rPr lang="zh-TW" sz="3600" u="none" strike="noStrike" cap="none">
                          <a:solidFill>
                            <a:srgbClr val="FFCA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短期</a:t>
                      </a:r>
                      <a:endParaRPr sz="360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82900" marR="82900" marT="55275" marB="55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3600"/>
                        <a:buFont typeface="Microsoft JhengHei"/>
                        <a:buNone/>
                      </a:pPr>
                      <a:r>
                        <a:rPr lang="zh-TW" sz="36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捐款導出上鏈發票</a:t>
                      </a:r>
                      <a:endParaRPr sz="36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82900" marR="82900" marT="55275" marB="55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3600"/>
                        <a:buFont typeface="Microsoft JhengHei"/>
                        <a:buNone/>
                      </a:pPr>
                      <a:r>
                        <a:rPr lang="zh-TW" sz="3600" u="none" strike="noStrike" cap="none">
                          <a:solidFill>
                            <a:srgbClr val="FFCA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中期</a:t>
                      </a:r>
                      <a:endParaRPr sz="360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82900" marR="82900" marT="55275" marB="55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3600"/>
                        <a:buFont typeface="Microsoft JhengHei"/>
                        <a:buNone/>
                      </a:pPr>
                      <a:r>
                        <a:rPr lang="zh-TW" sz="360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推動捐款綁定開立發票，並優化會計作業流程，降低運作成本，強化支出明細分析。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82900" marR="82900" marT="55275" marB="55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3600"/>
                        <a:buFont typeface="Microsoft JhengHei"/>
                        <a:buNone/>
                      </a:pPr>
                      <a:r>
                        <a:rPr lang="zh-TW" sz="3600" u="none" strike="noStrike" cap="none">
                          <a:solidFill>
                            <a:srgbClr val="FFCA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長期</a:t>
                      </a:r>
                      <a:endParaRPr sz="3600" u="none" strike="noStrike" cap="none">
                        <a:solidFill>
                          <a:srgbClr val="FFCA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82900" marR="82900" marT="55275" marB="55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A00"/>
                        </a:buClr>
                        <a:buSzPts val="3600"/>
                        <a:buFont typeface="Microsoft JhengHei"/>
                        <a:buNone/>
                      </a:pPr>
                      <a:r>
                        <a:rPr lang="zh-TW" sz="3600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與政府會計和稅務系統介面進行初步整合。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82900" marR="82900" marT="55275" marB="55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eed39309a_0_45"/>
          <p:cNvSpPr txBox="1"/>
          <p:nvPr/>
        </p:nvSpPr>
        <p:spPr>
          <a:xfrm>
            <a:off x="5060900" y="4518800"/>
            <a:ext cx="8178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zh-TW" sz="7000" b="0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產品架構 &amp; Demo</a:t>
            </a:r>
            <a:endParaRPr sz="700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ef67c0898_0_0"/>
          <p:cNvSpPr txBox="1"/>
          <p:nvPr/>
        </p:nvSpPr>
        <p:spPr>
          <a:xfrm>
            <a:off x="1378178" y="917502"/>
            <a:ext cx="36984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zh-TW" sz="65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系統架構</a:t>
            </a:r>
            <a:endParaRPr sz="650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4" name="Google Shape;154;g39ef67c0898_0_0"/>
          <p:cNvSpPr/>
          <p:nvPr/>
        </p:nvSpPr>
        <p:spPr>
          <a:xfrm>
            <a:off x="7439572" y="8019978"/>
            <a:ext cx="2788200" cy="101790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9ef67c0898_0_0"/>
          <p:cNvSpPr txBox="1"/>
          <p:nvPr/>
        </p:nvSpPr>
        <p:spPr>
          <a:xfrm>
            <a:off x="7439572" y="8283825"/>
            <a:ext cx="2788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DREAMCHAIN Web</a:t>
            </a:r>
            <a:br>
              <a:rPr lang="zh-TW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port:3000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9ef67c0898_0_0"/>
          <p:cNvSpPr/>
          <p:nvPr/>
        </p:nvSpPr>
        <p:spPr>
          <a:xfrm>
            <a:off x="6863565" y="5134500"/>
            <a:ext cx="3940200" cy="171720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9ef67c0898_0_0"/>
          <p:cNvSpPr txBox="1"/>
          <p:nvPr/>
        </p:nvSpPr>
        <p:spPr>
          <a:xfrm>
            <a:off x="8520227" y="6106438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9ef67c0898_0_0"/>
          <p:cNvSpPr txBox="1"/>
          <p:nvPr/>
        </p:nvSpPr>
        <p:spPr>
          <a:xfrm>
            <a:off x="7284821" y="5602536"/>
            <a:ext cx="2788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zh-TW" sz="29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Backend Core</a:t>
            </a:r>
            <a:br>
              <a:rPr lang="zh-TW" sz="29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29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port:8083</a:t>
            </a:r>
            <a:endParaRPr sz="2900" b="0" i="0" u="none" strike="noStrike" cap="non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g39ef67c0898_0_0"/>
          <p:cNvCxnSpPr>
            <a:stCxn id="156" idx="2"/>
          </p:cNvCxnSpPr>
          <p:nvPr/>
        </p:nvCxnSpPr>
        <p:spPr>
          <a:xfrm>
            <a:off x="8833665" y="6851700"/>
            <a:ext cx="0" cy="1168500"/>
          </a:xfrm>
          <a:prstGeom prst="straightConnector1">
            <a:avLst/>
          </a:prstGeom>
          <a:noFill/>
          <a:ln w="44450" cap="flat" cmpd="sng">
            <a:solidFill>
              <a:srgbClr val="FFC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0" name="Google Shape;160;g39ef67c0898_0_0"/>
          <p:cNvCxnSpPr/>
          <p:nvPr/>
        </p:nvCxnSpPr>
        <p:spPr>
          <a:xfrm rot="10800000">
            <a:off x="5441305" y="5993044"/>
            <a:ext cx="1351200" cy="0"/>
          </a:xfrm>
          <a:prstGeom prst="straightConnector1">
            <a:avLst/>
          </a:prstGeom>
          <a:noFill/>
          <a:ln w="44450" cap="flat" cmpd="sng">
            <a:solidFill>
              <a:srgbClr val="FFC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1" name="Google Shape;161;g39ef67c0898_0_0"/>
          <p:cNvCxnSpPr/>
          <p:nvPr/>
        </p:nvCxnSpPr>
        <p:spPr>
          <a:xfrm>
            <a:off x="8833681" y="3946976"/>
            <a:ext cx="0" cy="1187400"/>
          </a:xfrm>
          <a:prstGeom prst="straightConnector1">
            <a:avLst/>
          </a:prstGeom>
          <a:noFill/>
          <a:ln w="44450" cap="flat" cmpd="sng">
            <a:solidFill>
              <a:srgbClr val="FFC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2" name="Google Shape;162;g39ef67c0898_0_0"/>
          <p:cNvSpPr/>
          <p:nvPr/>
        </p:nvSpPr>
        <p:spPr>
          <a:xfrm>
            <a:off x="2653109" y="5187133"/>
            <a:ext cx="2788200" cy="166440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9ef67c0898_0_0"/>
          <p:cNvSpPr/>
          <p:nvPr/>
        </p:nvSpPr>
        <p:spPr>
          <a:xfrm>
            <a:off x="13152425" y="4934768"/>
            <a:ext cx="1724100" cy="1916700"/>
          </a:xfrm>
          <a:prstGeom prst="can">
            <a:avLst>
              <a:gd name="adj" fmla="val 25000"/>
            </a:avLst>
          </a:prstGeom>
          <a:solidFill>
            <a:srgbClr val="FFC0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9ef67c0898_0_0"/>
          <p:cNvSpPr txBox="1"/>
          <p:nvPr/>
        </p:nvSpPr>
        <p:spPr>
          <a:xfrm>
            <a:off x="13355704" y="5893178"/>
            <a:ext cx="1653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H2 Database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9ef67c0898_0_0"/>
          <p:cNvSpPr txBox="1"/>
          <p:nvPr/>
        </p:nvSpPr>
        <p:spPr>
          <a:xfrm>
            <a:off x="2223736" y="5829884"/>
            <a:ext cx="3480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Metadata Service</a:t>
            </a:r>
            <a:br>
              <a:rPr lang="zh-TW" sz="24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24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port:8081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9ef67c0898_0_0"/>
          <p:cNvSpPr/>
          <p:nvPr/>
        </p:nvSpPr>
        <p:spPr>
          <a:xfrm>
            <a:off x="6863564" y="2432230"/>
            <a:ext cx="3940200" cy="147420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9ef67c0898_0_0"/>
          <p:cNvSpPr txBox="1"/>
          <p:nvPr/>
        </p:nvSpPr>
        <p:spPr>
          <a:xfrm>
            <a:off x="7782091" y="2722915"/>
            <a:ext cx="14286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zh-TW" sz="26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Smart contract</a:t>
            </a:r>
            <a:endParaRPr sz="2600" b="0" i="0" u="none" strike="noStrike" cap="non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g39ef67c0898_0_0"/>
          <p:cNvCxnSpPr>
            <a:endCxn id="166" idx="3"/>
          </p:cNvCxnSpPr>
          <p:nvPr/>
        </p:nvCxnSpPr>
        <p:spPr>
          <a:xfrm rot="10800000">
            <a:off x="10803764" y="3169330"/>
            <a:ext cx="1910700" cy="25200"/>
          </a:xfrm>
          <a:prstGeom prst="straightConnector1">
            <a:avLst/>
          </a:prstGeom>
          <a:noFill/>
          <a:ln w="44450" cap="flat" cmpd="sng">
            <a:solidFill>
              <a:srgbClr val="FFC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9" name="Google Shape;169;g39ef67c0898_0_0"/>
          <p:cNvSpPr txBox="1"/>
          <p:nvPr/>
        </p:nvSpPr>
        <p:spPr>
          <a:xfrm>
            <a:off x="12928696" y="3838209"/>
            <a:ext cx="508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 test chain (hardhat)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9ef67c0898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3197087" y="2013963"/>
            <a:ext cx="14605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9ef67c0898_0_0"/>
          <p:cNvSpPr txBox="1"/>
          <p:nvPr/>
        </p:nvSpPr>
        <p:spPr>
          <a:xfrm>
            <a:off x="9679404" y="5166983"/>
            <a:ext cx="1096800" cy="3078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9ef67c0898_0_0"/>
          <p:cNvSpPr txBox="1"/>
          <p:nvPr/>
        </p:nvSpPr>
        <p:spPr>
          <a:xfrm>
            <a:off x="9982771" y="5851155"/>
            <a:ext cx="784200" cy="3078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9ef67c0898_0_0"/>
          <p:cNvSpPr txBox="1"/>
          <p:nvPr/>
        </p:nvSpPr>
        <p:spPr>
          <a:xfrm>
            <a:off x="9740652" y="6532771"/>
            <a:ext cx="1035900" cy="3078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9ef67c0898_0_0"/>
          <p:cNvSpPr txBox="1"/>
          <p:nvPr/>
        </p:nvSpPr>
        <p:spPr>
          <a:xfrm>
            <a:off x="10073034" y="2440002"/>
            <a:ext cx="721800" cy="3078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9ef67c0898_0_0"/>
          <p:cNvSpPr txBox="1"/>
          <p:nvPr/>
        </p:nvSpPr>
        <p:spPr>
          <a:xfrm>
            <a:off x="10057483" y="3017099"/>
            <a:ext cx="721800" cy="3078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9ef67c0898_0_0"/>
          <p:cNvSpPr txBox="1"/>
          <p:nvPr/>
        </p:nvSpPr>
        <p:spPr>
          <a:xfrm>
            <a:off x="10039371" y="3624747"/>
            <a:ext cx="755400" cy="3078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revoke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9ef67c0898_0_0"/>
          <p:cNvSpPr txBox="1"/>
          <p:nvPr/>
        </p:nvSpPr>
        <p:spPr>
          <a:xfrm>
            <a:off x="9467027" y="3169264"/>
            <a:ext cx="915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Port: 8545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g39ef67c0898_0_0"/>
          <p:cNvCxnSpPr/>
          <p:nvPr/>
        </p:nvCxnSpPr>
        <p:spPr>
          <a:xfrm>
            <a:off x="10864579" y="6019361"/>
            <a:ext cx="2296200" cy="0"/>
          </a:xfrm>
          <a:prstGeom prst="straightConnector1">
            <a:avLst/>
          </a:prstGeom>
          <a:noFill/>
          <a:ln w="5080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g39ef67c0898_0_0"/>
          <p:cNvCxnSpPr/>
          <p:nvPr/>
        </p:nvCxnSpPr>
        <p:spPr>
          <a:xfrm rot="10800000">
            <a:off x="10265948" y="8778240"/>
            <a:ext cx="1026300" cy="0"/>
          </a:xfrm>
          <a:prstGeom prst="straightConnector1">
            <a:avLst/>
          </a:prstGeom>
          <a:noFill/>
          <a:ln w="5080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80" name="Google Shape;180;g39ef67c0898_0_0"/>
          <p:cNvGrpSpPr/>
          <p:nvPr/>
        </p:nvGrpSpPr>
        <p:grpSpPr>
          <a:xfrm>
            <a:off x="11144270" y="7751328"/>
            <a:ext cx="1734779" cy="1734779"/>
            <a:chOff x="12864455" y="8019978"/>
            <a:chExt cx="1734779" cy="1734779"/>
          </a:xfrm>
        </p:grpSpPr>
        <p:sp>
          <p:nvSpPr>
            <p:cNvPr id="181" name="Google Shape;181;g39ef67c0898_0_0"/>
            <p:cNvSpPr/>
            <p:nvPr/>
          </p:nvSpPr>
          <p:spPr>
            <a:xfrm>
              <a:off x="13109930" y="8283825"/>
              <a:ext cx="1243800" cy="11598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2136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2" name="Google Shape;182;g39ef67c0898_0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864455" y="8019978"/>
              <a:ext cx="1734779" cy="17347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g39ef67c0898_0_0"/>
          <p:cNvSpPr txBox="1"/>
          <p:nvPr/>
        </p:nvSpPr>
        <p:spPr>
          <a:xfrm>
            <a:off x="1051878" y="8269302"/>
            <a:ext cx="36984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endParaRPr sz="6500" b="0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4" name="Google Shape;184;g39ef67c0898_0_0"/>
          <p:cNvSpPr txBox="1"/>
          <p:nvPr/>
        </p:nvSpPr>
        <p:spPr>
          <a:xfrm>
            <a:off x="12928700" y="9564625"/>
            <a:ext cx="451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Link::https://github.com/wayne-yeh/hackthon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3467850" y="2618450"/>
            <a:ext cx="120429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zh-TW" sz="6500" b="0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發票要上鏈，信任不掉鏈</a:t>
            </a:r>
            <a:endParaRPr sz="65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3467858" y="4921250"/>
            <a:ext cx="120429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zh-TW" sz="6500" b="1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上鏈夢想家</a:t>
            </a:r>
            <a:endParaRPr sz="6500" b="1" i="0" u="none" strike="noStrike" cap="none">
              <a:solidFill>
                <a:srgbClr val="FFCA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zh-TW" sz="6500" b="0" i="0" u="none" strike="noStrike" cap="none">
                <a:solidFill>
                  <a:srgbClr val="FFCA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謝謝大家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CA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Macintosh PowerPoint</Application>
  <PresentationFormat>Custom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Microsoft JhengHei</vt:lpstr>
      <vt:lpstr>SimSun</vt:lpstr>
      <vt:lpstr>Arial</vt:lpstr>
      <vt:lpstr>Office Theme</vt:lpstr>
      <vt:lpstr>RWA黑客松 發票× 區塊鏈 × 透明信任</vt:lpstr>
      <vt:lpstr>PowerPoint Presentation</vt:lpstr>
      <vt:lpstr>傳統捐款的信任困境</vt:lpstr>
      <vt:lpstr>PowerPoint Presentation</vt:lpstr>
      <vt:lpstr>區塊鏈發票</vt:lpstr>
      <vt:lpstr>區塊鏈發票流程</vt:lpstr>
      <vt:lpstr>優劣勢分析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Wayne Yeh</cp:lastModifiedBy>
  <cp:revision>1</cp:revision>
  <dcterms:created xsi:type="dcterms:W3CDTF">2025-10-29T11:13:45Z</dcterms:created>
  <dcterms:modified xsi:type="dcterms:W3CDTF">2025-11-01T05:08:57Z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2025-10-29T00:00:00Z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2025-10-29T00:00:00Z</vt:filetime>
  </property>
  <property fmtid="{D5CDD505-2E9C-101B-9397-08002B2CF9AE}" pid="5" name="Producer">
    <vt:lpwstr>GPL Ghostscript 10.05.1</vt:lpwstr>
  </property>
</Properties>
</file>